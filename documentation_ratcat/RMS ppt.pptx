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23"/>
  </p:notesMasterIdLst>
  <p:sldIdLst>
    <p:sldId id="256" r:id="rId2"/>
    <p:sldId id="284" r:id="rId3"/>
    <p:sldId id="259" r:id="rId4"/>
    <p:sldId id="262" r:id="rId5"/>
    <p:sldId id="263" r:id="rId6"/>
    <p:sldId id="264" r:id="rId7"/>
    <p:sldId id="279" r:id="rId8"/>
    <p:sldId id="280" r:id="rId9"/>
    <p:sldId id="269" r:id="rId10"/>
    <p:sldId id="268" r:id="rId11"/>
    <p:sldId id="270" r:id="rId12"/>
    <p:sldId id="275" r:id="rId13"/>
    <p:sldId id="272" r:id="rId14"/>
    <p:sldId id="273" r:id="rId15"/>
    <p:sldId id="274" r:id="rId16"/>
    <p:sldId id="282" r:id="rId17"/>
    <p:sldId id="276" r:id="rId18"/>
    <p:sldId id="277" r:id="rId19"/>
    <p:sldId id="278" r:id="rId20"/>
    <p:sldId id="281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D42E2E4-F632-44A2-9F7B-10E28136ED5A}">
          <p14:sldIdLst>
            <p14:sldId id="256"/>
            <p14:sldId id="284"/>
            <p14:sldId id="259"/>
            <p14:sldId id="262"/>
            <p14:sldId id="263"/>
            <p14:sldId id="264"/>
            <p14:sldId id="279"/>
            <p14:sldId id="280"/>
            <p14:sldId id="269"/>
            <p14:sldId id="268"/>
            <p14:sldId id="270"/>
            <p14:sldId id="275"/>
            <p14:sldId id="272"/>
            <p14:sldId id="273"/>
            <p14:sldId id="274"/>
            <p14:sldId id="282"/>
            <p14:sldId id="276"/>
            <p14:sldId id="277"/>
            <p14:sldId id="278"/>
            <p14:sldId id="281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3EB06-6AC8-4155-A835-92D35B63F722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ABD37-AE11-4242-A2CC-BF13E0CE0F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1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ABD37-AE11-4242-A2CC-BF13E0CE0F5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07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11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11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1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03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51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27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65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82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56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9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48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7A368-ECB2-4D07-BE84-7D183E063B91}" type="datetimeFigureOut">
              <a:rPr lang="en-IN" smtClean="0"/>
              <a:t>09-06-2022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7B67A0B-B4CC-423D-A771-F17CB487DDF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68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tio.net/magento-e-commerce/estore-functions-and-modules#product-browsing" TargetMode="External"/><Relationship Id="rId13" Type="http://schemas.openxmlformats.org/officeDocument/2006/relationships/hyperlink" Target="https://www.artio.net/magento-e-commerce/estore-functions-and-modules#search-engine-optimization" TargetMode="External"/><Relationship Id="rId3" Type="http://schemas.openxmlformats.org/officeDocument/2006/relationships/hyperlink" Target="https://www.artio.net/magento-e-commerce/estore-functions-and-modules#shipping" TargetMode="External"/><Relationship Id="rId7" Type="http://schemas.openxmlformats.org/officeDocument/2006/relationships/hyperlink" Target="https://www.artio.net/magento-e-commerce/estore-functions-and-modules#catalog-browsing" TargetMode="External"/><Relationship Id="rId12" Type="http://schemas.openxmlformats.org/officeDocument/2006/relationships/hyperlink" Target="https://www.artio.net/magento-e-commerce/estore-functions-and-modules#site-management" TargetMode="External"/><Relationship Id="rId2" Type="http://schemas.openxmlformats.org/officeDocument/2006/relationships/hyperlink" Target="https://www.artio.net/magento-e-commerce/estore-functions-and-modules#checkou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rtio.net/magento-e-commerce/estore-functions-and-modules#catalog-management" TargetMode="External"/><Relationship Id="rId11" Type="http://schemas.openxmlformats.org/officeDocument/2006/relationships/hyperlink" Target="https://www.artio.net/magento-e-commerce/estore-functions-and-modules#order-management" TargetMode="External"/><Relationship Id="rId5" Type="http://schemas.openxmlformats.org/officeDocument/2006/relationships/hyperlink" Target="https://www.artio.net/magento-e-commerce/estore-functions-and-modules#customer-accounts" TargetMode="External"/><Relationship Id="rId10" Type="http://schemas.openxmlformats.org/officeDocument/2006/relationships/hyperlink" Target="https://www.artio.net/magento-e-commerce/estore-functions-and-modules#business-reports" TargetMode="External"/><Relationship Id="rId4" Type="http://schemas.openxmlformats.org/officeDocument/2006/relationships/hyperlink" Target="https://www.artio.net/magento-e-commerce/estore-functions-and-modules#payment" TargetMode="External"/><Relationship Id="rId9" Type="http://schemas.openxmlformats.org/officeDocument/2006/relationships/hyperlink" Target="https://www.artio.net/magento-e-commerce/estore-functions-and-modules#analytics-and-reporti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73" y="203200"/>
            <a:ext cx="11924145" cy="611447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smtClean="0"/>
              <a:t>BUNDELKHAND UNIVERSITY, JHANSI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 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Department of Mathematical Science and Computer Applications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b="1" dirty="0" smtClean="0"/>
              <a:t> 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b="1" dirty="0" smtClean="0"/>
              <a:t>  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800" b="1" dirty="0" smtClean="0"/>
              <a:t>Resort Management System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b="1" dirty="0" smtClean="0"/>
              <a:t>Software Requirement Specification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 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 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Web Technology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b="1" dirty="0" smtClean="0"/>
              <a:t>Project 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 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Date of Submission –       -03-2022</a:t>
            </a:r>
            <a:br>
              <a:rPr lang="en-US" sz="2000" dirty="0" smtClean="0"/>
            </a:b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sz="2000" dirty="0" smtClean="0"/>
              <a:t> 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     </a:t>
            </a:r>
            <a:r>
              <a:rPr lang="en-US" sz="2000" b="1" dirty="0" smtClean="0"/>
              <a:t>Submitted to:</a:t>
            </a:r>
            <a:r>
              <a:rPr lang="en-IN" sz="2000" dirty="0" smtClean="0"/>
              <a:t>						    </a:t>
            </a:r>
            <a:r>
              <a:rPr lang="en-US" sz="2000" b="1" dirty="0" smtClean="0"/>
              <a:t>Submitted by:</a:t>
            </a:r>
            <a:r>
              <a:rPr lang="en-IN" sz="2000" b="1" dirty="0" smtClean="0"/>
              <a:t/>
            </a:r>
            <a:br>
              <a:rPr lang="en-IN" sz="2000" b="1" dirty="0" smtClean="0"/>
            </a:br>
            <a:r>
              <a:rPr lang="en-US" sz="2000" dirty="0" smtClean="0"/>
              <a:t>Dr. </a:t>
            </a:r>
            <a:r>
              <a:rPr lang="en-US" sz="2000" dirty="0" err="1" smtClean="0"/>
              <a:t>Sonam</a:t>
            </a:r>
            <a:r>
              <a:rPr lang="en-US" sz="2000" dirty="0" smtClean="0"/>
              <a:t> Seth</a:t>
            </a:r>
            <a:r>
              <a:rPr lang="en-IN" sz="2000" dirty="0" smtClean="0"/>
              <a:t>						   </a:t>
            </a:r>
            <a:r>
              <a:rPr lang="en-US" sz="2000" dirty="0" smtClean="0"/>
              <a:t>Nitesh Sahu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							   </a:t>
            </a:r>
            <a:r>
              <a:rPr lang="en-US" sz="2000" dirty="0" smtClean="0"/>
              <a:t>MCA – III </a:t>
            </a:r>
            <a:r>
              <a:rPr lang="en-US" sz="2000" dirty="0" err="1" smtClean="0"/>
              <a:t>sem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							      </a:t>
            </a:r>
            <a:r>
              <a:rPr lang="en-US" sz="2000" dirty="0" smtClean="0"/>
              <a:t>Roll N0. 2013450980</a:t>
            </a:r>
            <a:r>
              <a:rPr lang="en-US" sz="2000" b="1" dirty="0" smtClean="0"/>
              <a:t>32</a:t>
            </a:r>
            <a:r>
              <a:rPr lang="en-US" sz="2000" dirty="0" smtClean="0"/>
              <a:t> </a:t>
            </a:r>
            <a:br>
              <a:rPr lang="en-US" sz="2000" dirty="0" smtClean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7167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/>
              <a:t>Universal </a:t>
            </a:r>
            <a:r>
              <a:rPr lang="en-IN" dirty="0" smtClean="0"/>
              <a:t>standard</a:t>
            </a:r>
          </a:p>
          <a:p>
            <a:r>
              <a:rPr lang="en-IN" dirty="0"/>
              <a:t>Large customer </a:t>
            </a:r>
            <a:r>
              <a:rPr lang="en-IN" dirty="0" smtClean="0"/>
              <a:t>reach, </a:t>
            </a:r>
            <a:r>
              <a:rPr lang="en-IN" b="1" dirty="0"/>
              <a:t>Sell More</a:t>
            </a:r>
          </a:p>
          <a:p>
            <a:r>
              <a:rPr lang="en-IN" dirty="0"/>
              <a:t>Interactive </a:t>
            </a:r>
            <a:r>
              <a:rPr lang="en-IN" dirty="0" smtClean="0"/>
              <a:t>platform, </a:t>
            </a:r>
            <a:r>
              <a:rPr lang="en-US" b="1" dirty="0" smtClean="0"/>
              <a:t>Mobile </a:t>
            </a:r>
            <a:r>
              <a:rPr lang="en-US" b="1" dirty="0"/>
              <a:t>Responsive</a:t>
            </a:r>
          </a:p>
          <a:p>
            <a:r>
              <a:rPr lang="en-US" dirty="0"/>
              <a:t>Easy to use the checkout</a:t>
            </a:r>
          </a:p>
          <a:p>
            <a:r>
              <a:rPr lang="en-IN" dirty="0"/>
              <a:t>Reporting </a:t>
            </a:r>
            <a:r>
              <a:rPr lang="en-IN" dirty="0" smtClean="0"/>
              <a:t>tool</a:t>
            </a:r>
          </a:p>
          <a:p>
            <a:r>
              <a:rPr lang="en-US" b="1" dirty="0" smtClean="0"/>
              <a:t>Identify </a:t>
            </a:r>
            <a:r>
              <a:rPr lang="en-US" b="1" dirty="0"/>
              <a:t>The Right Target </a:t>
            </a:r>
            <a:r>
              <a:rPr lang="en-US" b="1" dirty="0" smtClean="0"/>
              <a:t>Audience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7664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Sub-system / Modules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hlinkClick r:id="rId2"/>
              </a:rPr>
              <a:t>Checkout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3"/>
              </a:rPr>
              <a:t>Shipping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4"/>
              </a:rPr>
              <a:t>Payment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5"/>
              </a:rPr>
              <a:t>Customer Accounts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6"/>
              </a:rPr>
              <a:t>Catalog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7"/>
              </a:rPr>
              <a:t>Catalog Browsing</a:t>
            </a:r>
            <a:endParaRPr lang="en-US" dirty="0"/>
          </a:p>
          <a:p>
            <a:r>
              <a:rPr lang="en-US" dirty="0">
                <a:hlinkClick r:id="rId8"/>
              </a:rPr>
              <a:t>Product Browsing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9"/>
              </a:rPr>
              <a:t>Analytics and Reporting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10"/>
              </a:rPr>
              <a:t>Business Reports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11"/>
              </a:rPr>
              <a:t>Order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12"/>
              </a:rPr>
              <a:t>Site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13"/>
              </a:rPr>
              <a:t>Search Engine Optimization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6018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Classes and </a:t>
            </a:r>
            <a:r>
              <a:rPr lang="en-US" b="1" dirty="0" smtClean="0"/>
              <a:t>Characteristics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smtClean="0"/>
              <a:t>Admin</a:t>
            </a:r>
            <a:r>
              <a:rPr lang="en-US" dirty="0" smtClean="0"/>
              <a:t>			         			</a:t>
            </a:r>
            <a:r>
              <a:rPr lang="en-US" dirty="0" smtClean="0"/>
              <a:t>Customer</a:t>
            </a:r>
            <a:endParaRPr lang="en-US" dirty="0" smtClean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20" y="2559368"/>
            <a:ext cx="1320771" cy="116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275" y="2462304"/>
            <a:ext cx="1125163" cy="1103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91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74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57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</a:t>
            </a:r>
            <a:r>
              <a:rPr lang="en-US" dirty="0" smtClean="0"/>
              <a:t>used IN THIS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36427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b="1" dirty="0"/>
              <a:t> Front-End Technologies</a:t>
            </a:r>
          </a:p>
          <a:p>
            <a:r>
              <a:rPr lang="en-IN" dirty="0" smtClean="0"/>
              <a:t>Bootstrap5 (CSS Framework)</a:t>
            </a:r>
            <a:endParaRPr lang="en-IN" dirty="0" smtClean="0"/>
          </a:p>
          <a:p>
            <a:r>
              <a:rPr lang="en-IN" dirty="0" smtClean="0"/>
              <a:t>Hypertext </a:t>
            </a:r>
            <a:r>
              <a:rPr lang="en-IN" dirty="0" smtClean="0"/>
              <a:t>Mark-up </a:t>
            </a:r>
            <a:r>
              <a:rPr lang="en-IN" dirty="0"/>
              <a:t>Language </a:t>
            </a:r>
            <a:r>
              <a:rPr lang="en-IN" dirty="0" smtClean="0"/>
              <a:t>(</a:t>
            </a:r>
            <a:r>
              <a:rPr lang="en-IN" b="1" dirty="0" smtClean="0"/>
              <a:t>HTML</a:t>
            </a:r>
            <a:r>
              <a:rPr lang="en-IN" dirty="0" smtClean="0"/>
              <a:t>)</a:t>
            </a:r>
          </a:p>
          <a:p>
            <a:r>
              <a:rPr lang="en-IN" dirty="0"/>
              <a:t>Cascading Style Sheets </a:t>
            </a:r>
            <a:r>
              <a:rPr lang="en-IN" dirty="0" smtClean="0"/>
              <a:t> (</a:t>
            </a:r>
            <a:r>
              <a:rPr lang="en-US" b="1" dirty="0" smtClean="0"/>
              <a:t>CSS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JavaScript</a:t>
            </a:r>
          </a:p>
          <a:p>
            <a:r>
              <a:rPr lang="en-US" b="1" dirty="0" smtClean="0"/>
              <a:t>Ajax</a:t>
            </a:r>
          </a:p>
          <a:p>
            <a:pPr marL="0" indent="0" algn="ctr">
              <a:buNone/>
            </a:pPr>
            <a:r>
              <a:rPr lang="en-US" b="1" dirty="0" smtClean="0"/>
              <a:t>Server Side Scripting </a:t>
            </a:r>
            <a:r>
              <a:rPr lang="en-US" b="1" dirty="0"/>
              <a:t>Technologies</a:t>
            </a:r>
          </a:p>
          <a:p>
            <a:r>
              <a:rPr lang="en-US" b="1" dirty="0" smtClean="0"/>
              <a:t>Python – </a:t>
            </a:r>
          </a:p>
          <a:p>
            <a:r>
              <a:rPr lang="en-US" b="1" dirty="0" smtClean="0"/>
              <a:t>Django – </a:t>
            </a:r>
            <a:r>
              <a:rPr lang="en-US" dirty="0"/>
              <a:t>Web </a:t>
            </a:r>
            <a:r>
              <a:rPr lang="en-US" dirty="0"/>
              <a:t>D</a:t>
            </a:r>
            <a:r>
              <a:rPr lang="en-US" dirty="0"/>
              <a:t>evelopment Framework</a:t>
            </a:r>
          </a:p>
          <a:p>
            <a:pPr marL="0" indent="0" algn="ctr">
              <a:buNone/>
            </a:pPr>
            <a:r>
              <a:rPr lang="en-US" b="1" dirty="0" smtClean="0"/>
              <a:t>Back-End </a:t>
            </a:r>
            <a:r>
              <a:rPr lang="en-US" b="1" dirty="0" smtClean="0"/>
              <a:t>Technologies</a:t>
            </a:r>
          </a:p>
          <a:p>
            <a:r>
              <a:rPr lang="en-US" b="1" dirty="0" smtClean="0"/>
              <a:t>SQLite </a:t>
            </a:r>
            <a:r>
              <a:rPr lang="en-US" b="1" dirty="0" smtClean="0"/>
              <a:t>- </a:t>
            </a:r>
            <a:r>
              <a:rPr lang="en-IN" dirty="0" smtClean="0"/>
              <a:t>open-source </a:t>
            </a:r>
            <a:r>
              <a:rPr lang="en-IN" dirty="0"/>
              <a:t>relational database management system (RDBMS</a:t>
            </a:r>
            <a:r>
              <a:rPr lang="en-IN" dirty="0" smtClean="0"/>
              <a:t>).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7104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Functional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Sign-Up  </a:t>
            </a:r>
          </a:p>
          <a:p>
            <a:r>
              <a:rPr lang="en-US" dirty="0" smtClean="0"/>
              <a:t>User Log-In</a:t>
            </a:r>
          </a:p>
          <a:p>
            <a:r>
              <a:rPr lang="en-US" dirty="0" smtClean="0"/>
              <a:t>User Log-out</a:t>
            </a:r>
          </a:p>
          <a:p>
            <a:r>
              <a:rPr lang="en-US" dirty="0" smtClean="0"/>
              <a:t>Forgot </a:t>
            </a:r>
            <a:r>
              <a:rPr lang="en-US" dirty="0" smtClean="0"/>
              <a:t>Password</a:t>
            </a:r>
          </a:p>
          <a:p>
            <a:r>
              <a:rPr lang="en-US" dirty="0" smtClean="0"/>
              <a:t>Change Password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20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Functional </a:t>
            </a:r>
            <a:r>
              <a:rPr lang="en-US" b="1" u="sng" dirty="0" smtClean="0"/>
              <a:t>Requirements</a:t>
            </a:r>
            <a:r>
              <a:rPr lang="en-IN" dirty="0"/>
              <a:t> </a:t>
            </a:r>
            <a:r>
              <a:rPr lang="en-US" b="1" dirty="0" smtClean="0"/>
              <a:t>- </a:t>
            </a:r>
            <a:r>
              <a:rPr lang="en-US" b="1" dirty="0" smtClean="0"/>
              <a:t>Admin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19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Functional </a:t>
            </a:r>
            <a:r>
              <a:rPr lang="en-US" b="1" u="sng" dirty="0" smtClean="0"/>
              <a:t>Requirements</a:t>
            </a:r>
            <a:r>
              <a:rPr lang="en-US" b="1" dirty="0" smtClean="0"/>
              <a:t> </a:t>
            </a:r>
            <a:r>
              <a:rPr lang="en-US" b="1" dirty="0"/>
              <a:t>- </a:t>
            </a:r>
            <a:r>
              <a:rPr lang="en-US" b="1" dirty="0" smtClean="0"/>
              <a:t>customer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80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601468" y="669628"/>
            <a:ext cx="8495839" cy="6116782"/>
            <a:chOff x="3458" y="2586"/>
            <a:chExt cx="17423" cy="15001"/>
          </a:xfrm>
        </p:grpSpPr>
        <p:cxnSp>
          <p:nvCxnSpPr>
            <p:cNvPr id="6" name="Straight Connector 5"/>
            <p:cNvCxnSpPr>
              <a:cxnSpLocks noChangeShapeType="1"/>
            </p:cNvCxnSpPr>
            <p:nvPr/>
          </p:nvCxnSpPr>
          <p:spPr bwMode="auto">
            <a:xfrm>
              <a:off x="6141" y="4751"/>
              <a:ext cx="2368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94" y="8643"/>
              <a:ext cx="2787" cy="2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Straight Connector 8"/>
            <p:cNvCxnSpPr>
              <a:cxnSpLocks noChangeShapeType="1"/>
            </p:cNvCxnSpPr>
            <p:nvPr/>
          </p:nvCxnSpPr>
          <p:spPr bwMode="auto">
            <a:xfrm>
              <a:off x="6177" y="3058"/>
              <a:ext cx="2368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8684" y="2648"/>
              <a:ext cx="2299" cy="6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View 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cxnSpLocks noChangeShapeType="1"/>
            </p:cNvCxnSpPr>
            <p:nvPr/>
          </p:nvCxnSpPr>
          <p:spPr bwMode="auto">
            <a:xfrm>
              <a:off x="6177" y="3936"/>
              <a:ext cx="2368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2"/>
            <p:cNvSpPr txBox="1">
              <a:spLocks noChangeArrowheads="1"/>
            </p:cNvSpPr>
            <p:nvPr/>
          </p:nvSpPr>
          <p:spPr bwMode="auto">
            <a:xfrm>
              <a:off x="8684" y="3528"/>
              <a:ext cx="2126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Insert</a:t>
              </a:r>
              <a:endParaRPr lang="en-IN" sz="1200" dirty="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2"/>
            <p:cNvSpPr txBox="1">
              <a:spLocks noChangeArrowheads="1"/>
            </p:cNvSpPr>
            <p:nvPr/>
          </p:nvSpPr>
          <p:spPr bwMode="auto">
            <a:xfrm>
              <a:off x="8684" y="4407"/>
              <a:ext cx="2335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Update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2"/>
            <p:cNvSpPr txBox="1">
              <a:spLocks noChangeArrowheads="1"/>
            </p:cNvSpPr>
            <p:nvPr/>
          </p:nvSpPr>
          <p:spPr bwMode="auto">
            <a:xfrm>
              <a:off x="8684" y="5129"/>
              <a:ext cx="2335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Delete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8684" y="11751"/>
              <a:ext cx="2057" cy="6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Add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2"/>
            <p:cNvSpPr txBox="1">
              <a:spLocks noChangeArrowheads="1"/>
            </p:cNvSpPr>
            <p:nvPr/>
          </p:nvSpPr>
          <p:spPr bwMode="auto">
            <a:xfrm>
              <a:off x="8684" y="12849"/>
              <a:ext cx="1915" cy="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Update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Straight Connector 19"/>
            <p:cNvCxnSpPr>
              <a:cxnSpLocks noChangeShapeType="1"/>
            </p:cNvCxnSpPr>
            <p:nvPr/>
          </p:nvCxnSpPr>
          <p:spPr bwMode="auto">
            <a:xfrm>
              <a:off x="6141" y="5631"/>
              <a:ext cx="2370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Connector 23"/>
            <p:cNvCxnSpPr>
              <a:cxnSpLocks noChangeShapeType="1"/>
            </p:cNvCxnSpPr>
            <p:nvPr/>
          </p:nvCxnSpPr>
          <p:spPr bwMode="auto">
            <a:xfrm>
              <a:off x="6141" y="12127"/>
              <a:ext cx="2370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Connector 24"/>
            <p:cNvCxnSpPr>
              <a:cxnSpLocks noChangeShapeType="1"/>
            </p:cNvCxnSpPr>
            <p:nvPr/>
          </p:nvCxnSpPr>
          <p:spPr bwMode="auto">
            <a:xfrm>
              <a:off x="6141" y="13163"/>
              <a:ext cx="2370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25"/>
            <p:cNvCxnSpPr>
              <a:cxnSpLocks noChangeShapeType="1"/>
            </p:cNvCxnSpPr>
            <p:nvPr/>
          </p:nvCxnSpPr>
          <p:spPr bwMode="auto">
            <a:xfrm>
              <a:off x="10671" y="3058"/>
              <a:ext cx="2685" cy="0"/>
            </a:xfrm>
            <a:prstGeom prst="straightConnector1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32"/>
            <p:cNvCxnSpPr>
              <a:cxnSpLocks noChangeShapeType="1"/>
            </p:cNvCxnSpPr>
            <p:nvPr/>
          </p:nvCxnSpPr>
          <p:spPr bwMode="auto">
            <a:xfrm>
              <a:off x="10671" y="3967"/>
              <a:ext cx="7598" cy="4895"/>
            </a:xfrm>
            <a:prstGeom prst="bentConnector3">
              <a:avLst>
                <a:gd name="adj1" fmla="val 71440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Arrow Connector 33"/>
            <p:cNvCxnSpPr>
              <a:cxnSpLocks noChangeShapeType="1"/>
            </p:cNvCxnSpPr>
            <p:nvPr/>
          </p:nvCxnSpPr>
          <p:spPr bwMode="auto">
            <a:xfrm>
              <a:off x="10671" y="4657"/>
              <a:ext cx="8120" cy="4018"/>
            </a:xfrm>
            <a:prstGeom prst="bentConnector3">
              <a:avLst>
                <a:gd name="adj1" fmla="val 74958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Arrow Connector 34"/>
            <p:cNvCxnSpPr>
              <a:cxnSpLocks noChangeShapeType="1"/>
            </p:cNvCxnSpPr>
            <p:nvPr/>
          </p:nvCxnSpPr>
          <p:spPr bwMode="auto">
            <a:xfrm>
              <a:off x="10637" y="5505"/>
              <a:ext cx="8642" cy="3045"/>
            </a:xfrm>
            <a:prstGeom prst="bentConnector3">
              <a:avLst>
                <a:gd name="adj1" fmla="val 100222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 Box 2"/>
            <p:cNvSpPr txBox="1">
              <a:spLocks noChangeArrowheads="1"/>
            </p:cNvSpPr>
            <p:nvPr/>
          </p:nvSpPr>
          <p:spPr bwMode="auto">
            <a:xfrm>
              <a:off x="13529" y="2586"/>
              <a:ext cx="3657" cy="9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Reports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"/>
            <p:cNvSpPr txBox="1">
              <a:spLocks noChangeArrowheads="1"/>
            </p:cNvSpPr>
            <p:nvPr/>
          </p:nvSpPr>
          <p:spPr bwMode="auto">
            <a:xfrm>
              <a:off x="10547" y="3300"/>
              <a:ext cx="2266" cy="6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 smtClean="0"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Users Details</a:t>
              </a:r>
              <a:endParaRPr lang="en-IN" sz="1200" dirty="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Straight Arrow Connector 47"/>
            <p:cNvCxnSpPr>
              <a:cxnSpLocks noChangeShapeType="1"/>
            </p:cNvCxnSpPr>
            <p:nvPr/>
          </p:nvCxnSpPr>
          <p:spPr bwMode="auto">
            <a:xfrm flipV="1">
              <a:off x="10706" y="11280"/>
              <a:ext cx="7805" cy="942"/>
            </a:xfrm>
            <a:prstGeom prst="bentConnector3">
              <a:avLst>
                <a:gd name="adj1" fmla="val 50000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8" y="12911"/>
              <a:ext cx="2538" cy="2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3" name="Straight Arrow Connector 54"/>
            <p:cNvCxnSpPr>
              <a:cxnSpLocks noChangeShapeType="1"/>
            </p:cNvCxnSpPr>
            <p:nvPr/>
          </p:nvCxnSpPr>
          <p:spPr bwMode="auto">
            <a:xfrm flipV="1">
              <a:off x="10637" y="11655"/>
              <a:ext cx="8502" cy="1601"/>
            </a:xfrm>
            <a:prstGeom prst="bentConnector3">
              <a:avLst>
                <a:gd name="adj1" fmla="val 82875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Text Box 2"/>
            <p:cNvSpPr txBox="1">
              <a:spLocks noChangeArrowheads="1"/>
            </p:cNvSpPr>
            <p:nvPr/>
          </p:nvSpPr>
          <p:spPr bwMode="auto">
            <a:xfrm>
              <a:off x="10533" y="11499"/>
              <a:ext cx="3410" cy="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1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Guest Details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Box 2"/>
            <p:cNvSpPr txBox="1">
              <a:spLocks noChangeArrowheads="1"/>
            </p:cNvSpPr>
            <p:nvPr/>
          </p:nvSpPr>
          <p:spPr bwMode="auto">
            <a:xfrm>
              <a:off x="10462" y="12503"/>
              <a:ext cx="5575" cy="6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Guest Details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Straight Connector 45"/>
            <p:cNvCxnSpPr>
              <a:cxnSpLocks noChangeShapeType="1"/>
            </p:cNvCxnSpPr>
            <p:nvPr/>
          </p:nvCxnSpPr>
          <p:spPr bwMode="auto">
            <a:xfrm>
              <a:off x="6141" y="14104"/>
              <a:ext cx="2370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 Box 2"/>
            <p:cNvSpPr txBox="1">
              <a:spLocks noChangeArrowheads="1"/>
            </p:cNvSpPr>
            <p:nvPr/>
          </p:nvSpPr>
          <p:spPr bwMode="auto">
            <a:xfrm>
              <a:off x="8615" y="13822"/>
              <a:ext cx="1915" cy="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Delete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2"/>
            <p:cNvSpPr txBox="1">
              <a:spLocks noChangeArrowheads="1"/>
            </p:cNvSpPr>
            <p:nvPr/>
          </p:nvSpPr>
          <p:spPr bwMode="auto">
            <a:xfrm>
              <a:off x="10428" y="13476"/>
              <a:ext cx="5575" cy="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Guest Details</a:t>
              </a:r>
              <a:endParaRPr lang="en-IN" sz="1200" dirty="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Arrow Connector 60"/>
            <p:cNvCxnSpPr>
              <a:cxnSpLocks noChangeShapeType="1"/>
            </p:cNvCxnSpPr>
            <p:nvPr/>
          </p:nvCxnSpPr>
          <p:spPr bwMode="auto">
            <a:xfrm flipV="1">
              <a:off x="10706" y="11060"/>
              <a:ext cx="7283" cy="3138"/>
            </a:xfrm>
            <a:prstGeom prst="bentConnector3">
              <a:avLst>
                <a:gd name="adj1" fmla="val 89417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49"/>
            <p:cNvCxnSpPr>
              <a:cxnSpLocks noChangeShapeType="1"/>
            </p:cNvCxnSpPr>
            <p:nvPr/>
          </p:nvCxnSpPr>
          <p:spPr bwMode="auto">
            <a:xfrm>
              <a:off x="6141" y="15077"/>
              <a:ext cx="2370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" name="Text Box 2"/>
            <p:cNvSpPr txBox="1">
              <a:spLocks noChangeArrowheads="1"/>
            </p:cNvSpPr>
            <p:nvPr/>
          </p:nvSpPr>
          <p:spPr bwMode="auto">
            <a:xfrm>
              <a:off x="8615" y="14732"/>
              <a:ext cx="1915" cy="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Search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Straight Arrow Connector 63"/>
            <p:cNvCxnSpPr>
              <a:cxnSpLocks noChangeShapeType="1"/>
            </p:cNvCxnSpPr>
            <p:nvPr/>
          </p:nvCxnSpPr>
          <p:spPr bwMode="auto">
            <a:xfrm flipV="1">
              <a:off x="10637" y="11655"/>
              <a:ext cx="8886" cy="3580"/>
            </a:xfrm>
            <a:prstGeom prst="bentConnector3">
              <a:avLst>
                <a:gd name="adj1" fmla="val 97782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Text Box 2"/>
            <p:cNvSpPr txBox="1">
              <a:spLocks noChangeArrowheads="1"/>
            </p:cNvSpPr>
            <p:nvPr/>
          </p:nvSpPr>
          <p:spPr bwMode="auto">
            <a:xfrm>
              <a:off x="10566" y="14561"/>
              <a:ext cx="2228" cy="6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Rooms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Straight Connector 53"/>
            <p:cNvCxnSpPr>
              <a:cxnSpLocks noChangeShapeType="1"/>
            </p:cNvCxnSpPr>
            <p:nvPr/>
          </p:nvCxnSpPr>
          <p:spPr bwMode="auto">
            <a:xfrm>
              <a:off x="6141" y="16239"/>
              <a:ext cx="2370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Text Box 2"/>
            <p:cNvSpPr txBox="1">
              <a:spLocks noChangeArrowheads="1"/>
            </p:cNvSpPr>
            <p:nvPr/>
          </p:nvSpPr>
          <p:spPr bwMode="auto">
            <a:xfrm>
              <a:off x="8684" y="15987"/>
              <a:ext cx="1915" cy="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Make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Straight Arrow Connector 196"/>
            <p:cNvCxnSpPr>
              <a:cxnSpLocks noChangeShapeType="1"/>
            </p:cNvCxnSpPr>
            <p:nvPr/>
          </p:nvCxnSpPr>
          <p:spPr bwMode="auto">
            <a:xfrm flipV="1">
              <a:off x="10706" y="11687"/>
              <a:ext cx="9234" cy="4667"/>
            </a:xfrm>
            <a:prstGeom prst="bentConnector3">
              <a:avLst>
                <a:gd name="adj1" fmla="val 99986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Text Box 2"/>
            <p:cNvSpPr txBox="1">
              <a:spLocks noChangeArrowheads="1"/>
            </p:cNvSpPr>
            <p:nvPr/>
          </p:nvSpPr>
          <p:spPr bwMode="auto">
            <a:xfrm>
              <a:off x="10530" y="15696"/>
              <a:ext cx="2925" cy="6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Reservations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8" y="2586"/>
              <a:ext cx="2439" cy="2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Text Box 2"/>
            <p:cNvSpPr txBox="1">
              <a:spLocks noChangeArrowheads="1"/>
            </p:cNvSpPr>
            <p:nvPr/>
          </p:nvSpPr>
          <p:spPr bwMode="auto">
            <a:xfrm>
              <a:off x="3458" y="4909"/>
              <a:ext cx="2299" cy="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Owner</a:t>
              </a:r>
              <a:endParaRPr lang="en-IN" sz="1200" dirty="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2"/>
            <p:cNvSpPr txBox="1">
              <a:spLocks noChangeArrowheads="1"/>
            </p:cNvSpPr>
            <p:nvPr/>
          </p:nvSpPr>
          <p:spPr bwMode="auto">
            <a:xfrm>
              <a:off x="3458" y="15485"/>
              <a:ext cx="2787" cy="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spAutoFit/>
            </a:bodyPr>
            <a:lstStyle/>
            <a:p>
              <a:pPr algn="ctr"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Receptionist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1" name="Straight Connector 60"/>
            <p:cNvCxnSpPr>
              <a:cxnSpLocks noChangeShapeType="1"/>
            </p:cNvCxnSpPr>
            <p:nvPr/>
          </p:nvCxnSpPr>
          <p:spPr bwMode="auto">
            <a:xfrm>
              <a:off x="6141" y="17180"/>
              <a:ext cx="2370" cy="0"/>
            </a:xfrm>
            <a:prstGeom prst="line">
              <a:avLst/>
            </a:prstGeom>
            <a:noFill/>
            <a:ln w="6350" algn="ctr">
              <a:solidFill>
                <a:srgbClr val="5B9B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" name="Text Box 2"/>
            <p:cNvSpPr txBox="1">
              <a:spLocks noChangeArrowheads="1"/>
            </p:cNvSpPr>
            <p:nvPr/>
          </p:nvSpPr>
          <p:spPr bwMode="auto">
            <a:xfrm>
              <a:off x="8615" y="16835"/>
              <a:ext cx="1915" cy="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Issue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3" name="Straight Arrow Connector 203"/>
            <p:cNvCxnSpPr>
              <a:cxnSpLocks noChangeShapeType="1"/>
            </p:cNvCxnSpPr>
            <p:nvPr/>
          </p:nvCxnSpPr>
          <p:spPr bwMode="auto">
            <a:xfrm flipV="1">
              <a:off x="10846" y="11342"/>
              <a:ext cx="9687" cy="5963"/>
            </a:xfrm>
            <a:prstGeom prst="bentConnector3">
              <a:avLst>
                <a:gd name="adj1" fmla="val 103065"/>
              </a:avLst>
            </a:prstGeom>
            <a:noFill/>
            <a:ln w="6350" algn="ctr">
              <a:solidFill>
                <a:srgbClr val="5B9BD5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" name="Text Box 2"/>
            <p:cNvSpPr txBox="1">
              <a:spLocks noChangeArrowheads="1"/>
            </p:cNvSpPr>
            <p:nvPr/>
          </p:nvSpPr>
          <p:spPr bwMode="auto">
            <a:xfrm>
              <a:off x="10471" y="16694"/>
              <a:ext cx="1785" cy="5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200"/>
                </a:lnSpc>
                <a:spcAft>
                  <a:spcPts val="0"/>
                </a:spcAft>
              </a:pPr>
              <a:r>
                <a:rPr lang="en-US" sz="1200">
                  <a:effectLst/>
                  <a:latin typeface="Times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Bill</a:t>
              </a:r>
              <a:endParaRPr lang="en-IN" sz="120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Rectangle 91"/>
          <p:cNvSpPr>
            <a:spLocks noChangeArrowheads="1"/>
          </p:cNvSpPr>
          <p:nvPr/>
        </p:nvSpPr>
        <p:spPr bwMode="auto">
          <a:xfrm>
            <a:off x="0" y="533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6" name="TextBox 65"/>
          <p:cNvSpPr txBox="1"/>
          <p:nvPr/>
        </p:nvSpPr>
        <p:spPr>
          <a:xfrm>
            <a:off x="3850210" y="65628"/>
            <a:ext cx="3799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 Level Architecture</a:t>
            </a:r>
            <a:endParaRPr lang="en-IN" sz="2400" b="1" dirty="0"/>
          </a:p>
        </p:txBody>
      </p:sp>
      <p:sp>
        <p:nvSpPr>
          <p:cNvPr id="67" name="Text Box 2"/>
          <p:cNvSpPr txBox="1">
            <a:spLocks noChangeArrowheads="1"/>
          </p:cNvSpPr>
          <p:nvPr/>
        </p:nvSpPr>
        <p:spPr bwMode="auto">
          <a:xfrm>
            <a:off x="5036134" y="1251621"/>
            <a:ext cx="1104952" cy="25525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 dirty="0" smtClean="0"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 Details</a:t>
            </a:r>
            <a:endParaRPr lang="en-IN" sz="1200" dirty="0">
              <a:effectLst/>
              <a:latin typeface="Times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Box 2"/>
          <p:cNvSpPr txBox="1">
            <a:spLocks noChangeArrowheads="1"/>
          </p:cNvSpPr>
          <p:nvPr/>
        </p:nvSpPr>
        <p:spPr bwMode="auto">
          <a:xfrm>
            <a:off x="5059230" y="1597977"/>
            <a:ext cx="1104952" cy="25525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sz="1200" dirty="0" smtClean="0"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 Details</a:t>
            </a:r>
            <a:endParaRPr lang="en-IN" sz="1200" dirty="0">
              <a:effectLst/>
              <a:latin typeface="Times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06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023" y="419687"/>
            <a:ext cx="3439885" cy="56550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4354" y="50355"/>
            <a:ext cx="3509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Use Case Diagram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3839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086" y="64652"/>
            <a:ext cx="9448515" cy="5987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5098" y="487680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 Case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17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354" y="91556"/>
            <a:ext cx="7480301" cy="5935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7889" y="191589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 Case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290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595" y="178377"/>
            <a:ext cx="8413749" cy="58123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6218" y="339634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 Case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57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8" y="65314"/>
            <a:ext cx="9994175" cy="60384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6949" y="113211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ER-Diagram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454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Nonfunctional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Performance Requirements</a:t>
            </a:r>
            <a:endParaRPr lang="en-IN" b="1" dirty="0"/>
          </a:p>
          <a:p>
            <a:r>
              <a:rPr lang="en-US" dirty="0"/>
              <a:t>Performance requirements define </a:t>
            </a:r>
            <a:r>
              <a:rPr lang="en-US" dirty="0">
                <a:solidFill>
                  <a:srgbClr val="FF0000"/>
                </a:solidFill>
              </a:rPr>
              <a:t>acceptable response times </a:t>
            </a:r>
            <a:r>
              <a:rPr lang="en-US" dirty="0"/>
              <a:t>for system functionality</a:t>
            </a:r>
            <a:r>
              <a:rPr lang="en-US" dirty="0" smtClean="0"/>
              <a:t>.</a:t>
            </a:r>
          </a:p>
          <a:p>
            <a:r>
              <a:rPr lang="en-US" dirty="0"/>
              <a:t>the load time for user interface screens shall take no longer than two seconds</a:t>
            </a:r>
            <a:r>
              <a:rPr lang="en-US" dirty="0" smtClean="0"/>
              <a:t>. </a:t>
            </a:r>
            <a:r>
              <a:rPr lang="en-US" dirty="0"/>
              <a:t>It makes fast access to system functions. </a:t>
            </a:r>
            <a:endParaRPr lang="en-US" dirty="0" smtClean="0"/>
          </a:p>
          <a:p>
            <a:r>
              <a:rPr lang="en-US" dirty="0"/>
              <a:t>The log in information shall be verified within </a:t>
            </a:r>
            <a:r>
              <a:rPr lang="en-US" dirty="0">
                <a:solidFill>
                  <a:srgbClr val="FF0000"/>
                </a:solidFill>
              </a:rPr>
              <a:t>five seconds </a:t>
            </a:r>
            <a:r>
              <a:rPr lang="en-US" dirty="0"/>
              <a:t>causes’ efficiency of the system. </a:t>
            </a:r>
            <a:endParaRPr lang="en-US" dirty="0" smtClean="0"/>
          </a:p>
          <a:p>
            <a:r>
              <a:rPr lang="en-US" dirty="0"/>
              <a:t>Returning query results within </a:t>
            </a:r>
            <a:r>
              <a:rPr lang="en-US" dirty="0">
                <a:solidFill>
                  <a:srgbClr val="FF0000"/>
                </a:solidFill>
              </a:rPr>
              <a:t>five seconds </a:t>
            </a:r>
            <a:r>
              <a:rPr lang="en-US" dirty="0"/>
              <a:t>makes search function more accurate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48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Nonfunctional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Security </a:t>
            </a:r>
            <a:r>
              <a:rPr lang="en-US" b="1" dirty="0" smtClean="0"/>
              <a:t>Requirements</a:t>
            </a:r>
          </a:p>
          <a:p>
            <a:pPr algn="just"/>
            <a:r>
              <a:rPr lang="en-US" dirty="0"/>
              <a:t>There are several user levels in Resort management system, Access to the various subsystems will be protected by a user log in screen that requires a user name and password. This gives different views and accessible functions of user levels through the system.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/>
              <a:t>Safety Requirements</a:t>
            </a:r>
            <a:endParaRPr lang="en-US" b="1" dirty="0" smtClean="0"/>
          </a:p>
          <a:p>
            <a:r>
              <a:rPr lang="en-US" dirty="0"/>
              <a:t>Maintaining backups ensure the system database security. System can be restoring in any case of emergency. 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095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Attributes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4513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Availability</a:t>
            </a:r>
            <a:r>
              <a:rPr lang="en-US" dirty="0"/>
              <a:t>: - </a:t>
            </a:r>
            <a:r>
              <a:rPr lang="en-US" dirty="0" smtClean="0"/>
              <a:t>24/4 (365 days)</a:t>
            </a:r>
            <a:endParaRPr lang="en-IN" dirty="0"/>
          </a:p>
          <a:p>
            <a:pPr lvl="0"/>
            <a:r>
              <a:rPr lang="en-US" b="1" dirty="0"/>
              <a:t>Correctness</a:t>
            </a:r>
            <a:r>
              <a:rPr lang="en-US" dirty="0"/>
              <a:t>: -  </a:t>
            </a:r>
            <a:r>
              <a:rPr lang="en-US" dirty="0" smtClean="0"/>
              <a:t>satisfies specifications and </a:t>
            </a:r>
            <a:r>
              <a:rPr lang="en-US" dirty="0"/>
              <a:t>fulfills user’s </a:t>
            </a:r>
            <a:r>
              <a:rPr lang="en-US" dirty="0" smtClean="0"/>
              <a:t>objectives</a:t>
            </a:r>
            <a:endParaRPr lang="en-IN" dirty="0"/>
          </a:p>
          <a:p>
            <a:pPr lvl="0"/>
            <a:r>
              <a:rPr lang="en-US" b="1" dirty="0"/>
              <a:t>Efficiency</a:t>
            </a:r>
            <a:r>
              <a:rPr lang="en-US" dirty="0"/>
              <a:t>: - </a:t>
            </a:r>
            <a:r>
              <a:rPr lang="en-US" dirty="0" smtClean="0"/>
              <a:t>In terms of </a:t>
            </a:r>
            <a:r>
              <a:rPr lang="en-US" dirty="0"/>
              <a:t>resources and </a:t>
            </a:r>
            <a:r>
              <a:rPr lang="en-US" dirty="0" smtClean="0"/>
              <a:t>time</a:t>
            </a:r>
          </a:p>
          <a:p>
            <a:pPr lvl="0"/>
            <a:r>
              <a:rPr lang="en-US" b="1" dirty="0"/>
              <a:t>Flexibility</a:t>
            </a:r>
            <a:r>
              <a:rPr lang="en-US" dirty="0"/>
              <a:t>: - Ability to add new </a:t>
            </a:r>
            <a:r>
              <a:rPr lang="en-US" dirty="0" smtClean="0"/>
              <a:t>features conveniently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b="1" dirty="0"/>
              <a:t>Integrity</a:t>
            </a:r>
            <a:r>
              <a:rPr lang="en-US" dirty="0"/>
              <a:t>: - </a:t>
            </a:r>
            <a:r>
              <a:rPr lang="en-US" dirty="0" smtClean="0"/>
              <a:t>avoids </a:t>
            </a:r>
            <a:r>
              <a:rPr lang="en-US" dirty="0"/>
              <a:t>the data </a:t>
            </a:r>
            <a:r>
              <a:rPr lang="en-US" dirty="0" smtClean="0"/>
              <a:t>losses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IN" dirty="0"/>
              <a:t>d</a:t>
            </a:r>
            <a:r>
              <a:rPr lang="en-IN" dirty="0" smtClean="0"/>
              <a:t>ata redundancy.</a:t>
            </a:r>
            <a:endParaRPr lang="en-IN" dirty="0"/>
          </a:p>
          <a:p>
            <a:pPr lvl="0"/>
            <a:r>
              <a:rPr lang="en-US" b="1" dirty="0"/>
              <a:t>Portability</a:t>
            </a:r>
            <a:r>
              <a:rPr lang="en-US" dirty="0"/>
              <a:t>: - </a:t>
            </a:r>
            <a:r>
              <a:rPr lang="en-US" dirty="0" smtClean="0"/>
              <a:t>Platform Independent.</a:t>
            </a:r>
          </a:p>
          <a:p>
            <a:r>
              <a:rPr lang="en-US" b="1" dirty="0"/>
              <a:t>Usability</a:t>
            </a:r>
            <a:r>
              <a:rPr lang="en-US" dirty="0"/>
              <a:t>: - </a:t>
            </a:r>
            <a:r>
              <a:rPr lang="en-US" dirty="0" smtClean="0"/>
              <a:t>User-friendly. </a:t>
            </a:r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541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 smtClean="0">
                <a:solidFill>
                  <a:srgbClr val="009900"/>
                </a:solidFill>
              </a:rPr>
              <a:t>Thank-You</a:t>
            </a:r>
            <a:endParaRPr lang="en-IN" sz="72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811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desciption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75112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536</TotalTime>
  <Words>500</Words>
  <Application>Microsoft Office PowerPoint</Application>
  <PresentationFormat>Widescreen</PresentationFormat>
  <Paragraphs>92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Gill Sans MT</vt:lpstr>
      <vt:lpstr>Times</vt:lpstr>
      <vt:lpstr>Times New Roman</vt:lpstr>
      <vt:lpstr>Gallery</vt:lpstr>
      <vt:lpstr>BUNDELKHAND UNIVERSITY, JHANSI   Department of Mathematical Science and Computer Applications      Resort Management System Software Requirement Specification     Web Technology Project    Date of Submission –       -03-2022         Submitted to:          Submitted by: Dr. Sonam Seth         Nitesh Sahu           MCA – III sem              Roll N0. 201345098032  </vt:lpstr>
      <vt:lpstr>objectives</vt:lpstr>
      <vt:lpstr>Sub-system / Modules</vt:lpstr>
      <vt:lpstr>User Classes and Characteristics</vt:lpstr>
      <vt:lpstr>ADMIN</vt:lpstr>
      <vt:lpstr>CUSTOMER</vt:lpstr>
      <vt:lpstr>Technology used IN THIS PROJECT</vt:lpstr>
      <vt:lpstr>Functional Requirements</vt:lpstr>
      <vt:lpstr>Functional Requirements - Admin</vt:lpstr>
      <vt:lpstr>Functional Requirements - customer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Nonfunctional Requirements</vt:lpstr>
      <vt:lpstr>Nonfunctional Requirements</vt:lpstr>
      <vt:lpstr>Software Quality Attributes</vt:lpstr>
      <vt:lpstr>.</vt:lpstr>
      <vt:lpstr>desciption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BUNDELKHAND UNIVERSITY, JHANSI   Department of Mathematical Science and Computer Applications      Resort Management System Software Requirement Specification     Web Technology Project    Date of Submission –       -03-2022         Submitted to:          Submitted by: Dr. Sonam Seth         Nitesh Sahu           MCA – III sem              Roll N0. 201345098032     </dc:title>
  <dc:creator>Nitesh Sahu</dc:creator>
  <cp:lastModifiedBy>Nitesh Sahu</cp:lastModifiedBy>
  <cp:revision>66</cp:revision>
  <dcterms:created xsi:type="dcterms:W3CDTF">2022-02-01T16:55:16Z</dcterms:created>
  <dcterms:modified xsi:type="dcterms:W3CDTF">2022-06-09T20:10:26Z</dcterms:modified>
</cp:coreProperties>
</file>